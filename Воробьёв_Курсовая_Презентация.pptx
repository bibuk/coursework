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C4A"/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671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6949440" y="-822960"/>
            <a:ext cx="3474720" cy="34747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680960" y="2560320"/>
            <a:ext cx="2194560" cy="2194560"/>
          </a:xfrm>
          <a:prstGeom prst="ellipse">
            <a:avLst/>
          </a:prstGeom>
          <a:solidFill>
            <a:srgbClr val="1A2258"/>
          </a:solidFill>
          <a:ln w="12700">
            <a:solidFill>
              <a:srgbClr val="1A225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27432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BFEA"/>
                </a:solidFill>
              </a:rPr>
              <a:t>ЧУПО «Высшая школа предпринимательства»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82296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Разработка</a:t>
            </a:r>
            <a:endParaRPr lang="en-US" sz="3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базы данных</a:t>
            </a:r>
            <a:endParaRPr lang="en-US" sz="3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для конструктора ПВЗ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274320" y="3200400"/>
            <a:ext cx="2926080" cy="4572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274320" y="33375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Воробьёв Роман Алексеевич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A8BFEA"/>
                </a:solidFill>
              </a:rPr>
              <a:t>3-й курс  •  09.02.07 «Информационные системы и программирование»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A8BFEA"/>
                </a:solidFill>
              </a:rPr>
              <a:t>Преподаватель: к.ф.н. Ткачев П.С.</a:t>
            </a:r>
            <a:endParaRPr lang="en-US" sz="13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2F37A4-1506-8B21-DBB1-67E295846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797" y="197967"/>
            <a:ext cx="1780186" cy="17679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FEA"/>
                </a:solidFill>
              </a:rPr>
              <a:t>Воробьёв Р.А.  •  09.02.07  •  ЧУПО «ВШП»  •  20</a:t>
            </a:r>
            <a:r>
              <a:rPr lang="ru-RU" sz="800" dirty="0">
                <a:solidFill>
                  <a:srgbClr val="A8BFEA"/>
                </a:solidFill>
              </a:rPr>
              <a:t>25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ЦЕЛЬ И ЗАДАЧИ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595360" cy="6858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73152" cy="6858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ЦЕЛЬ: </a:t>
            </a:r>
            <a:r>
              <a:rPr lang="en-US" sz="1100" dirty="0">
                <a:solidFill>
                  <a:srgbClr val="FFFFFF"/>
                </a:solidFill>
              </a:rPr>
              <a:t>Разработать реляционную БД для мультитенантной платформы-конструктора ПВЗ, отражающую ключевые бизнес-процессы электронной торговли.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54864" cy="73152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65760" y="20116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" y="2011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Анализ бизнес-процессов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01168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3200400" y="2011680"/>
            <a:ext cx="54864" cy="73152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3291840" y="20116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12464" y="2011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Требования к БД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126480" y="2011680"/>
            <a:ext cx="54864" cy="73152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38544" y="2011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Выбор СУБД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54864" cy="73152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365760" y="28803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6384" y="2880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ER-диаграмма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288036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3200400" y="2880360"/>
            <a:ext cx="54864" cy="73152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3291840" y="28803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12464" y="2880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Физическая структура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88036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126480" y="2880360"/>
            <a:ext cx="54864" cy="73152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6217920" y="28803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38544" y="2880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1E2761"/>
                </a:solidFill>
              </a:rPr>
              <a:t>Реализация</a:t>
            </a:r>
            <a:r>
              <a:rPr lang="en-US" sz="1100" dirty="0">
                <a:solidFill>
                  <a:srgbClr val="1E2761"/>
                </a:solidFill>
              </a:rPr>
              <a:t> &amp; тестирование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FEA"/>
                </a:solidFill>
              </a:rPr>
              <a:t>Воробьёв Р.А.  •  09.02.07  •  ЧУПО «ВШП»  •  202</a:t>
            </a:r>
            <a:r>
              <a:rPr lang="ru-RU" sz="800" dirty="0">
                <a:solidFill>
                  <a:srgbClr val="A8BFEA"/>
                </a:solidFill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ПРЕДМЕТНАЯ ОБЛАСТЬ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0" y="1051560"/>
            <a:ext cx="2468880" cy="3566160"/>
          </a:xfrm>
          <a:prstGeom prst="rect">
            <a:avLst/>
          </a:prstGeom>
          <a:solidFill>
            <a:srgbClr val="1E2761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9" name="Shape 7"/>
          <p:cNvSpPr/>
          <p:nvPr/>
        </p:nvSpPr>
        <p:spPr>
          <a:xfrm>
            <a:off x="6400800" y="1051560"/>
            <a:ext cx="2468880" cy="6400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C3F7"/>
                </a:solidFill>
              </a:rPr>
              <a:t>20–25%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EA"/>
                </a:solidFill>
              </a:rPr>
              <a:t>ежегодный рост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FEA"/>
                </a:solidFill>
              </a:rPr>
              <a:t>e-commerce в России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FEA"/>
                </a:solidFill>
              </a:rPr>
              <a:t>(АКИТ, 2025)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37960" y="2880360"/>
            <a:ext cx="2194560" cy="36576"/>
          </a:xfrm>
          <a:prstGeom prst="rect">
            <a:avLst/>
          </a:prstGeom>
          <a:solidFill>
            <a:srgbClr val="2A35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14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9944" y="3200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FEA"/>
                </a:solidFill>
              </a:rPr>
              <a:t>таблиц БД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0" y="3483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SaaS + Multi-tenant</a:t>
            </a:r>
          </a:p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37581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850" dirty="0">
                <a:solidFill>
                  <a:srgbClr val="A8BFEA"/>
                </a:solidFill>
              </a:rPr>
              <a:t>архитектура: один код - тысячи магазинов</a:t>
            </a:r>
          </a:p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3995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MySQL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4270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850" dirty="0">
                <a:solidFill>
                  <a:srgbClr val="A8BFEA"/>
                </a:solidFill>
              </a:rPr>
              <a:t>выбранная СУБД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11430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Что такое конструктор ПВЗ?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14630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BFEA"/>
                </a:solidFill>
              </a:rPr>
              <a:t>SaaS-платформа с мультитенантной архитектурой: один экземпляр системы обслуживает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BFEA"/>
                </a:solidFill>
              </a:rPr>
              <a:t>множество независимых магазинов-арендаторов, логически изолированных друг от друга.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347472" cy="347472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31720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3232" y="22677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Суперадминистратор
</a:t>
            </a:r>
            <a:r>
              <a:rPr lang="en-US" sz="900" dirty="0">
                <a:solidFill>
                  <a:srgbClr val="A8BFEA"/>
                </a:solidFill>
              </a:rPr>
              <a:t>Управляет платформой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2834640"/>
            <a:ext cx="347472" cy="347472"/>
          </a:xfrm>
          <a:prstGeom prst="ellipse">
            <a:avLst/>
          </a:prstGeom>
          <a:solidFill>
            <a:srgbClr val="0D733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880360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3232" y="281635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Арендатор (ПВЗ)
</a:t>
            </a:r>
            <a:r>
              <a:rPr lang="en-US" sz="900" dirty="0">
                <a:solidFill>
                  <a:srgbClr val="A8BFEA"/>
                </a:solidFill>
              </a:rPr>
              <a:t>Независимый магазин с доменом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74320" y="3383280"/>
            <a:ext cx="347472" cy="347472"/>
          </a:xfrm>
          <a:prstGeom prst="ellipse">
            <a:avLst/>
          </a:prstGeom>
          <a:solidFill>
            <a:srgbClr val="8B3E9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429000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13232" y="336499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Менеджер ПВЗ
</a:t>
            </a:r>
            <a:r>
              <a:rPr lang="en-US" sz="900" dirty="0">
                <a:solidFill>
                  <a:srgbClr val="A8BFEA"/>
                </a:solidFill>
              </a:rPr>
              <a:t>Обработка заказов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274320" y="393192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97764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" y="39136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Клиент
</a:t>
            </a:r>
            <a:r>
              <a:rPr lang="en-US" sz="900" dirty="0">
                <a:solidFill>
                  <a:srgbClr val="A8BFEA"/>
                </a:solidFill>
              </a:rPr>
              <a:t>Покупатель платформы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FEA"/>
                </a:solidFill>
              </a:rPr>
              <a:t>Воробьёв Р.А.  •  09.02.07  •  ЧУПО «ВШП»  •  202</a:t>
            </a:r>
            <a:r>
              <a:rPr lang="ru-RU" sz="800" dirty="0">
                <a:solidFill>
                  <a:srgbClr val="A8BFEA"/>
                </a:solidFill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КЛЮЧЕВЫЕ БИЗНЕС-ПРОЦЕССЫ ПЛАТФОРМЫ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4592" y="1024128"/>
            <a:ext cx="2103120" cy="1810512"/>
          </a:xfrm>
          <a:prstGeom prst="rect">
            <a:avLst/>
          </a:prstGeom>
          <a:solidFill>
            <a:srgbClr val="1A2456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64592" y="1024128"/>
            <a:ext cx="2103120" cy="5486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517904" y="1097280"/>
            <a:ext cx="713232" cy="201168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517904" y="10972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tenant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74320" y="1115568"/>
            <a:ext cx="475488" cy="475488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179576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37744" y="164592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Управление арендаторами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01752" y="2066544"/>
            <a:ext cx="1828800" cy="22860"/>
          </a:xfrm>
          <a:prstGeom prst="rect">
            <a:avLst/>
          </a:prstGeom>
          <a:solidFill>
            <a:srgbClr val="2E3F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56032" y="2093976"/>
            <a:ext cx="1920240" cy="676656"/>
          </a:xfrm>
          <a:prstGeom prst="rect">
            <a:avLst/>
          </a:prstGeom>
          <a:noFill/>
          <a:ln/>
        </p:spPr>
        <p:txBody>
          <a:bodyPr wrap="square" lIns="25400" tIns="25400" rIns="2540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A8BFEA"/>
                </a:solidFill>
              </a:rPr>
              <a:t>Регистрация ПВЗ-магазинов, домен, адрес, режим работы, статус активности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377440" y="1024128"/>
            <a:ext cx="2103120" cy="1810512"/>
          </a:xfrm>
          <a:prstGeom prst="rect">
            <a:avLst/>
          </a:prstGeom>
          <a:solidFill>
            <a:srgbClr val="1A2456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2377440" y="1024128"/>
            <a:ext cx="2103120" cy="54864"/>
          </a:xfrm>
          <a:prstGeom prst="rect">
            <a:avLst/>
          </a:prstGeom>
          <a:solidFill>
            <a:srgbClr val="0D73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730752" y="1097280"/>
            <a:ext cx="713232" cy="201168"/>
          </a:xfrm>
          <a:prstGeom prst="rect">
            <a:avLst/>
          </a:prstGeom>
          <a:solidFill>
            <a:srgbClr val="0D73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3730752" y="10972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auth_user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2487168" y="1115568"/>
            <a:ext cx="475488" cy="475488"/>
          </a:xfrm>
          <a:prstGeom prst="ellipse">
            <a:avLst/>
          </a:prstGeom>
          <a:solidFill>
            <a:srgbClr val="0D733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179576"/>
            <a:ext cx="347472" cy="3474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450592" y="164592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Управление пользователями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514600" y="2066544"/>
            <a:ext cx="1828800" cy="22860"/>
          </a:xfrm>
          <a:prstGeom prst="rect">
            <a:avLst/>
          </a:prstGeom>
          <a:solidFill>
            <a:srgbClr val="2E3F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2468880" y="2093976"/>
            <a:ext cx="1920240" cy="676656"/>
          </a:xfrm>
          <a:prstGeom prst="rect">
            <a:avLst/>
          </a:prstGeom>
          <a:noFill/>
          <a:ln/>
        </p:spPr>
        <p:txBody>
          <a:bodyPr wrap="square" lIns="25400" tIns="25400" rIns="2540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A8BFEA"/>
                </a:solidFill>
              </a:rPr>
              <a:t>Роли: customer / manager / admin. Профили, разграничение прав доступа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590288" y="1024128"/>
            <a:ext cx="2103120" cy="1810512"/>
          </a:xfrm>
          <a:prstGeom prst="rect">
            <a:avLst/>
          </a:prstGeom>
          <a:solidFill>
            <a:srgbClr val="1A2456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3"/>
          <p:cNvSpPr/>
          <p:nvPr/>
        </p:nvSpPr>
        <p:spPr>
          <a:xfrm>
            <a:off x="4590288" y="1024128"/>
            <a:ext cx="2103120" cy="54864"/>
          </a:xfrm>
          <a:prstGeom prst="rect">
            <a:avLst/>
          </a:prstGeom>
          <a:solidFill>
            <a:srgbClr val="8B3E9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4"/>
          <p:cNvSpPr/>
          <p:nvPr/>
        </p:nvSpPr>
        <p:spPr>
          <a:xfrm>
            <a:off x="5943600" y="1097280"/>
            <a:ext cx="713232" cy="201168"/>
          </a:xfrm>
          <a:prstGeom prst="rect">
            <a:avLst/>
          </a:prstGeom>
          <a:solidFill>
            <a:srgbClr val="8B3E9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5943600" y="10972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product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4700016" y="1115568"/>
            <a:ext cx="475488" cy="475488"/>
          </a:xfrm>
          <a:prstGeom prst="ellipse">
            <a:avLst/>
          </a:prstGeom>
          <a:solidFill>
            <a:srgbClr val="8B3E9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1179576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663440" y="164592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Каталог товаров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727448" y="2066544"/>
            <a:ext cx="1828800" cy="22860"/>
          </a:xfrm>
          <a:prstGeom prst="rect">
            <a:avLst/>
          </a:prstGeom>
          <a:solidFill>
            <a:srgbClr val="2E3F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29"/>
          <p:cNvSpPr/>
          <p:nvPr/>
        </p:nvSpPr>
        <p:spPr>
          <a:xfrm>
            <a:off x="4681728" y="2093976"/>
            <a:ext cx="1920240" cy="676656"/>
          </a:xfrm>
          <a:prstGeom prst="rect">
            <a:avLst/>
          </a:prstGeom>
          <a:noFill/>
          <a:ln/>
        </p:spPr>
        <p:txBody>
          <a:bodyPr wrap="square" lIns="25400" tIns="25400" rIns="2540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A8BFEA"/>
                </a:solidFill>
              </a:rPr>
              <a:t>Мультитенантный каталог: бренды, категории, товары, остатки, JSON-атрибуты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6803136" y="1024128"/>
            <a:ext cx="2103120" cy="1810512"/>
          </a:xfrm>
          <a:prstGeom prst="rect">
            <a:avLst/>
          </a:prstGeom>
          <a:solidFill>
            <a:srgbClr val="1A2456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Shape 31"/>
          <p:cNvSpPr/>
          <p:nvPr/>
        </p:nvSpPr>
        <p:spPr>
          <a:xfrm>
            <a:off x="6803136" y="1024128"/>
            <a:ext cx="210312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Shape 32"/>
          <p:cNvSpPr/>
          <p:nvPr/>
        </p:nvSpPr>
        <p:spPr>
          <a:xfrm>
            <a:off x="8156448" y="1097280"/>
            <a:ext cx="713232" cy="2011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3"/>
          <p:cNvSpPr/>
          <p:nvPr/>
        </p:nvSpPr>
        <p:spPr>
          <a:xfrm>
            <a:off x="8156448" y="10972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cart</a:t>
            </a:r>
            <a:endParaRPr lang="en-US" sz="650" dirty="0"/>
          </a:p>
        </p:txBody>
      </p:sp>
      <p:sp>
        <p:nvSpPr>
          <p:cNvPr id="39" name="Shape 34"/>
          <p:cNvSpPr/>
          <p:nvPr/>
        </p:nvSpPr>
        <p:spPr>
          <a:xfrm>
            <a:off x="6912864" y="1115568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1179576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876288" y="164592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Корзина покупателя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940296" y="2066544"/>
            <a:ext cx="1828800" cy="22860"/>
          </a:xfrm>
          <a:prstGeom prst="rect">
            <a:avLst/>
          </a:prstGeom>
          <a:solidFill>
            <a:srgbClr val="2E3F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37"/>
          <p:cNvSpPr/>
          <p:nvPr/>
        </p:nvSpPr>
        <p:spPr>
          <a:xfrm>
            <a:off x="6894576" y="2093976"/>
            <a:ext cx="1920240" cy="676656"/>
          </a:xfrm>
          <a:prstGeom prst="rect">
            <a:avLst/>
          </a:prstGeom>
          <a:noFill/>
          <a:ln/>
        </p:spPr>
        <p:txBody>
          <a:bodyPr wrap="square" lIns="25400" tIns="25400" rIns="2540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A8BFEA"/>
                </a:solidFill>
              </a:rPr>
              <a:t>Добавление товаров, изменение количества, привязка к сессии / пользователю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164592" y="2944368"/>
            <a:ext cx="2103120" cy="1810512"/>
          </a:xfrm>
          <a:prstGeom prst="rect">
            <a:avLst/>
          </a:prstGeom>
          <a:solidFill>
            <a:srgbClr val="1A2456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5" name="Shape 39"/>
          <p:cNvSpPr/>
          <p:nvPr/>
        </p:nvSpPr>
        <p:spPr>
          <a:xfrm>
            <a:off x="164592" y="2944368"/>
            <a:ext cx="2103120" cy="54864"/>
          </a:xfrm>
          <a:prstGeom prst="rect">
            <a:avLst/>
          </a:prstGeom>
          <a:solidFill>
            <a:srgbClr val="B7770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6" name="Shape 40"/>
          <p:cNvSpPr/>
          <p:nvPr/>
        </p:nvSpPr>
        <p:spPr>
          <a:xfrm>
            <a:off x="1517904" y="3017520"/>
            <a:ext cx="713232" cy="201168"/>
          </a:xfrm>
          <a:prstGeom prst="rect">
            <a:avLst/>
          </a:prstGeom>
          <a:solidFill>
            <a:srgbClr val="B7770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Text 41"/>
          <p:cNvSpPr/>
          <p:nvPr/>
        </p:nvSpPr>
        <p:spPr>
          <a:xfrm>
            <a:off x="1517904" y="30175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order</a:t>
            </a:r>
            <a:endParaRPr lang="en-US" sz="650" dirty="0"/>
          </a:p>
        </p:txBody>
      </p:sp>
      <p:sp>
        <p:nvSpPr>
          <p:cNvPr id="48" name="Shape 42"/>
          <p:cNvSpPr/>
          <p:nvPr/>
        </p:nvSpPr>
        <p:spPr>
          <a:xfrm>
            <a:off x="274320" y="3035808"/>
            <a:ext cx="475488" cy="475488"/>
          </a:xfrm>
          <a:prstGeom prst="ellipse">
            <a:avLst/>
          </a:prstGeom>
          <a:solidFill>
            <a:srgbClr val="B7770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3099816"/>
            <a:ext cx="347472" cy="347472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237744" y="35661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Жизненный цикл заказа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301752" y="3986784"/>
            <a:ext cx="1828800" cy="22860"/>
          </a:xfrm>
          <a:prstGeom prst="rect">
            <a:avLst/>
          </a:prstGeom>
          <a:solidFill>
            <a:srgbClr val="2E3F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45"/>
          <p:cNvSpPr/>
          <p:nvPr/>
        </p:nvSpPr>
        <p:spPr>
          <a:xfrm>
            <a:off x="256032" y="4014216"/>
            <a:ext cx="1920240" cy="676656"/>
          </a:xfrm>
          <a:prstGeom prst="rect">
            <a:avLst/>
          </a:prstGeom>
          <a:noFill/>
          <a:ln/>
        </p:spPr>
        <p:txBody>
          <a:bodyPr wrap="square" lIns="25400" tIns="25400" rIns="2540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A8BFEA"/>
                </a:solidFill>
              </a:rPr>
              <a:t>pending → confirmed → shipped → delivered → completed / cancelled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2377440" y="2944368"/>
            <a:ext cx="2103120" cy="1810512"/>
          </a:xfrm>
          <a:prstGeom prst="rect">
            <a:avLst/>
          </a:prstGeom>
          <a:solidFill>
            <a:srgbClr val="1A2456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4" name="Shape 47"/>
          <p:cNvSpPr/>
          <p:nvPr/>
        </p:nvSpPr>
        <p:spPr>
          <a:xfrm>
            <a:off x="2377440" y="2944368"/>
            <a:ext cx="2103120" cy="54864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5" name="Shape 48"/>
          <p:cNvSpPr/>
          <p:nvPr/>
        </p:nvSpPr>
        <p:spPr>
          <a:xfrm>
            <a:off x="3730752" y="3017520"/>
            <a:ext cx="713232" cy="201168"/>
          </a:xfrm>
          <a:prstGeom prst="rect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Text 49"/>
          <p:cNvSpPr/>
          <p:nvPr/>
        </p:nvSpPr>
        <p:spPr>
          <a:xfrm>
            <a:off x="3730752" y="30175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payment</a:t>
            </a:r>
            <a:endParaRPr lang="en-US" sz="650" dirty="0"/>
          </a:p>
        </p:txBody>
      </p:sp>
      <p:sp>
        <p:nvSpPr>
          <p:cNvPr id="57" name="Shape 50"/>
          <p:cNvSpPr/>
          <p:nvPr/>
        </p:nvSpPr>
        <p:spPr>
          <a:xfrm>
            <a:off x="2487168" y="3035808"/>
            <a:ext cx="475488" cy="475488"/>
          </a:xfrm>
          <a:prstGeom prst="ellipse">
            <a:avLst/>
          </a:prstGeom>
          <a:solidFill>
            <a:srgbClr val="1A6B3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1176" y="3099816"/>
            <a:ext cx="347472" cy="347472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2450592" y="35661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Обработка платежей</a:t>
            </a:r>
            <a:endParaRPr lang="en-US" sz="1050" dirty="0"/>
          </a:p>
        </p:txBody>
      </p:sp>
      <p:sp>
        <p:nvSpPr>
          <p:cNvPr id="60" name="Shape 52"/>
          <p:cNvSpPr/>
          <p:nvPr/>
        </p:nvSpPr>
        <p:spPr>
          <a:xfrm>
            <a:off x="2514600" y="3986784"/>
            <a:ext cx="1828800" cy="22860"/>
          </a:xfrm>
          <a:prstGeom prst="rect">
            <a:avLst/>
          </a:prstGeom>
          <a:solidFill>
            <a:srgbClr val="2E3F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1" name="Text 53"/>
          <p:cNvSpPr/>
          <p:nvPr/>
        </p:nvSpPr>
        <p:spPr>
          <a:xfrm>
            <a:off x="2468880" y="4014216"/>
            <a:ext cx="1920240" cy="676656"/>
          </a:xfrm>
          <a:prstGeom prst="rect">
            <a:avLst/>
          </a:prstGeom>
          <a:noFill/>
          <a:ln/>
        </p:spPr>
        <p:txBody>
          <a:bodyPr wrap="square" lIns="25400" tIns="25400" rIns="2540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A8BFEA"/>
                </a:solidFill>
              </a:rPr>
              <a:t>Разные методы оплаты, статус транзакции, время оплаты, привязка к заказу</a:t>
            </a:r>
            <a:endParaRPr lang="en-US" sz="850" dirty="0"/>
          </a:p>
        </p:txBody>
      </p:sp>
      <p:sp>
        <p:nvSpPr>
          <p:cNvPr id="62" name="Shape 54"/>
          <p:cNvSpPr/>
          <p:nvPr/>
        </p:nvSpPr>
        <p:spPr>
          <a:xfrm>
            <a:off x="4590288" y="2944368"/>
            <a:ext cx="2103120" cy="1810512"/>
          </a:xfrm>
          <a:prstGeom prst="rect">
            <a:avLst/>
          </a:prstGeom>
          <a:solidFill>
            <a:srgbClr val="1A2456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3" name="Shape 55"/>
          <p:cNvSpPr/>
          <p:nvPr/>
        </p:nvSpPr>
        <p:spPr>
          <a:xfrm>
            <a:off x="4590288" y="2944368"/>
            <a:ext cx="2103120" cy="54864"/>
          </a:xfrm>
          <a:prstGeom prst="rect">
            <a:avLst/>
          </a:prstGeom>
          <a:solidFill>
            <a:srgbClr val="5B3F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4" name="Shape 56"/>
          <p:cNvSpPr/>
          <p:nvPr/>
        </p:nvSpPr>
        <p:spPr>
          <a:xfrm>
            <a:off x="5943600" y="3017520"/>
            <a:ext cx="713232" cy="201168"/>
          </a:xfrm>
          <a:prstGeom prst="rect">
            <a:avLst/>
          </a:prstGeom>
          <a:solidFill>
            <a:srgbClr val="5B3F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5" name="Text 57"/>
          <p:cNvSpPr/>
          <p:nvPr/>
        </p:nvSpPr>
        <p:spPr>
          <a:xfrm>
            <a:off x="5943600" y="30175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site_config</a:t>
            </a:r>
            <a:endParaRPr lang="en-US" sz="650" dirty="0"/>
          </a:p>
        </p:txBody>
      </p:sp>
      <p:sp>
        <p:nvSpPr>
          <p:cNvPr id="66" name="Shape 58"/>
          <p:cNvSpPr/>
          <p:nvPr/>
        </p:nvSpPr>
        <p:spPr>
          <a:xfrm>
            <a:off x="4700016" y="3035808"/>
            <a:ext cx="475488" cy="475488"/>
          </a:xfrm>
          <a:prstGeom prst="ellipse">
            <a:avLst/>
          </a:prstGeom>
          <a:solidFill>
            <a:srgbClr val="5B3FA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4024" y="3099816"/>
            <a:ext cx="347472" cy="347472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4663440" y="35661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Конструктор сайта</a:t>
            </a:r>
            <a:endParaRPr lang="en-US" sz="1050" dirty="0"/>
          </a:p>
        </p:txBody>
      </p:sp>
      <p:sp>
        <p:nvSpPr>
          <p:cNvPr id="69" name="Shape 60"/>
          <p:cNvSpPr/>
          <p:nvPr/>
        </p:nvSpPr>
        <p:spPr>
          <a:xfrm>
            <a:off x="4727448" y="3986784"/>
            <a:ext cx="1828800" cy="22860"/>
          </a:xfrm>
          <a:prstGeom prst="rect">
            <a:avLst/>
          </a:prstGeom>
          <a:solidFill>
            <a:srgbClr val="2E3F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0" name="Text 61"/>
          <p:cNvSpPr/>
          <p:nvPr/>
        </p:nvSpPr>
        <p:spPr>
          <a:xfrm>
            <a:off x="4681728" y="4014216"/>
            <a:ext cx="1920240" cy="676656"/>
          </a:xfrm>
          <a:prstGeom prst="rect">
            <a:avLst/>
          </a:prstGeom>
          <a:noFill/>
          <a:ln/>
        </p:spPr>
        <p:txBody>
          <a:bodyPr wrap="square" lIns="25400" tIns="25400" rIns="2540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A8BFEA"/>
                </a:solidFill>
              </a:rPr>
              <a:t>Site Builder: создание страниц drag-and-drop, хранение конфигурации в JSON</a:t>
            </a:r>
            <a:endParaRPr lang="en-US" sz="850" dirty="0"/>
          </a:p>
        </p:txBody>
      </p:sp>
      <p:sp>
        <p:nvSpPr>
          <p:cNvPr id="71" name="Shape 62"/>
          <p:cNvSpPr/>
          <p:nvPr/>
        </p:nvSpPr>
        <p:spPr>
          <a:xfrm>
            <a:off x="6803136" y="2944368"/>
            <a:ext cx="2103120" cy="1810512"/>
          </a:xfrm>
          <a:prstGeom prst="rect">
            <a:avLst/>
          </a:prstGeom>
          <a:solidFill>
            <a:srgbClr val="1A2456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2" name="Shape 63"/>
          <p:cNvSpPr/>
          <p:nvPr/>
        </p:nvSpPr>
        <p:spPr>
          <a:xfrm>
            <a:off x="6803136" y="2944368"/>
            <a:ext cx="2103120" cy="54864"/>
          </a:xfrm>
          <a:prstGeom prst="rect">
            <a:avLst/>
          </a:prstGeom>
          <a:solidFill>
            <a:srgbClr val="9C2C2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3" name="Shape 64"/>
          <p:cNvSpPr/>
          <p:nvPr/>
        </p:nvSpPr>
        <p:spPr>
          <a:xfrm>
            <a:off x="8156448" y="3017520"/>
            <a:ext cx="713232" cy="201168"/>
          </a:xfrm>
          <a:prstGeom prst="rect">
            <a:avLst/>
          </a:prstGeom>
          <a:solidFill>
            <a:srgbClr val="9C2C2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4" name="Text 65"/>
          <p:cNvSpPr/>
          <p:nvPr/>
        </p:nvSpPr>
        <p:spPr>
          <a:xfrm>
            <a:off x="8156448" y="30175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notification</a:t>
            </a:r>
            <a:endParaRPr lang="en-US" sz="650" dirty="0"/>
          </a:p>
        </p:txBody>
      </p:sp>
      <p:sp>
        <p:nvSpPr>
          <p:cNvPr id="75" name="Shape 66"/>
          <p:cNvSpPr/>
          <p:nvPr/>
        </p:nvSpPr>
        <p:spPr>
          <a:xfrm>
            <a:off x="6912864" y="3035808"/>
            <a:ext cx="475488" cy="475488"/>
          </a:xfrm>
          <a:prstGeom prst="ellipse">
            <a:avLst/>
          </a:prstGeom>
          <a:solidFill>
            <a:srgbClr val="9C2C2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6872" y="3099816"/>
            <a:ext cx="347472" cy="347472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6876288" y="35661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Уведомления и мониторинг</a:t>
            </a:r>
            <a:endParaRPr lang="en-US" sz="1050" dirty="0"/>
          </a:p>
        </p:txBody>
      </p:sp>
      <p:sp>
        <p:nvSpPr>
          <p:cNvPr id="78" name="Shape 68"/>
          <p:cNvSpPr/>
          <p:nvPr/>
        </p:nvSpPr>
        <p:spPr>
          <a:xfrm>
            <a:off x="6940296" y="3986784"/>
            <a:ext cx="1828800" cy="22860"/>
          </a:xfrm>
          <a:prstGeom prst="rect">
            <a:avLst/>
          </a:prstGeom>
          <a:solidFill>
            <a:srgbClr val="2E3F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9" name="Text 69"/>
          <p:cNvSpPr/>
          <p:nvPr/>
        </p:nvSpPr>
        <p:spPr>
          <a:xfrm>
            <a:off x="6894576" y="4014216"/>
            <a:ext cx="1920240" cy="676656"/>
          </a:xfrm>
          <a:prstGeom prst="rect">
            <a:avLst/>
          </a:prstGeom>
          <a:noFill/>
          <a:ln/>
        </p:spPr>
        <p:txBody>
          <a:bodyPr wrap="square" lIns="25400" tIns="25400" rIns="2540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A8BFEA"/>
                </a:solidFill>
              </a:rPr>
              <a:t>Системные уведомления, отслеживание посылок (просрочка &gt;7 дней на ПВЗ)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Воробьёв Р.А.  •  09.02.07  •  ЧУПО «ВШП»  •  202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41C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ТРЕБОВАНИЯ К БАЗЕ ДАННЫХ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4160520" cy="3584448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416052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Функциональные требования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4048" y="1600200"/>
            <a:ext cx="256032" cy="2560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84048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41C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15819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Хранение данных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3232" y="1783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Тенанты, пользователи, товары, заказы, платежи, корзины, уведомления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4048" y="2203704"/>
            <a:ext cx="256032" cy="2560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84048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41C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" y="2185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Изоляция данных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" y="23865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Каждая запись привязана к tenant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_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 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логическая изоляция арендаторов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4048" y="2807208"/>
            <a:ext cx="256032" cy="2560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84048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41C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" y="27889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Жизненный цикл заказа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" y="2990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Полная цепочка статусов со сменой состояний и откатом при отмене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84048" y="3410712"/>
            <a:ext cx="256032" cy="2560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384048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41C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" y="33924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Ссылочная целостность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" y="35935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FK, NOT NULL, UNIQUE 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автоматический контроль консистентности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84048" y="4014216"/>
            <a:ext cx="256032" cy="2560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384048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41C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3232" y="39959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ru-RU" sz="1050" b="1" dirty="0">
                <a:solidFill>
                  <a:schemeClr val="bg1"/>
                </a:solidFill>
              </a:rPr>
              <a:t>JSON-поля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232" y="41970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A8BFE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База данных должна поддерживать хранение JSON-полей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09160" y="1078992"/>
            <a:ext cx="4160520" cy="3584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4709160" y="1078992"/>
            <a:ext cx="4160520" cy="5486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4828032" y="10789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288D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Нефункциональные требования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18888" y="1600200"/>
            <a:ext cx="256032" cy="25603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4818888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148072" y="15819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Реляционная модель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148072" y="1783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555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Данные в таблицах, связи по типу «один ко многим»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18888" y="2203704"/>
            <a:ext cx="256032" cy="25603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4818888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48072" y="2185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Нормализация 3NF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148072" y="23865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555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Нет транзитивных зависимостей, нет избыточности данных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818888" y="2807208"/>
            <a:ext cx="256032" cy="25603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4818888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48072" y="27889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Транзакционная безопасность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48072" y="2990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555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Поддержка ACID, откат при ошибках (ROLLBACK)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818888" y="3410712"/>
            <a:ext cx="256032" cy="25603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4818888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148072" y="33924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Гибкость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1050" b="1" dirty="0">
                <a:solidFill>
                  <a:srgbClr val="1E2761"/>
                </a:solidFill>
                <a:latin typeface="Calibri" panose="020F0502020204030204"/>
              </a:rPr>
              <a:t>системы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148072" y="35935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5555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База данных должна поддерживать большое количество одновременных запросов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818888" y="4014216"/>
            <a:ext cx="256032" cy="25603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4818888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148072" y="39959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Масштабируемость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148072" y="41970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00" dirty="0" err="1">
                <a:solidFill>
                  <a:srgbClr val="555577"/>
                </a:solidFill>
              </a:rPr>
              <a:t>Индексы</a:t>
            </a:r>
            <a:r>
              <a:rPr lang="en-US" sz="900" dirty="0">
                <a:solidFill>
                  <a:srgbClr val="555577"/>
                </a:solidFill>
              </a:rPr>
              <a:t> </a:t>
            </a:r>
            <a:r>
              <a:rPr lang="en-US" sz="900" dirty="0" err="1">
                <a:solidFill>
                  <a:srgbClr val="555577"/>
                </a:solidFill>
              </a:rPr>
              <a:t>на</a:t>
            </a:r>
            <a:r>
              <a:rPr lang="en-US" sz="900" dirty="0">
                <a:solidFill>
                  <a:srgbClr val="555577"/>
                </a:solidFill>
              </a:rPr>
              <a:t> FK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FEA"/>
                </a:solidFill>
              </a:rPr>
              <a:t>Воробьёв Р.А.  •  09.02.07  •  ЧУПО «ВШП»  •  202</a:t>
            </a:r>
            <a:r>
              <a:rPr lang="ru-RU" sz="800" dirty="0">
                <a:solidFill>
                  <a:srgbClr val="A8BFEA"/>
                </a:solidFill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ПОЧЕМУ MySQL?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2926080" cy="2560320"/>
          </a:xfrm>
          <a:prstGeom prst="rect">
            <a:avLst/>
          </a:prstGeom>
          <a:solidFill>
            <a:srgbClr val="1A2456"/>
          </a:solidFill>
          <a:ln/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2926080" cy="7315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1280160" cy="1280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MySQL 8.0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FEA"/>
                </a:solidFill>
              </a:rPr>
              <a:t>выбранная СУБД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66160" y="1143000"/>
            <a:ext cx="5257800" cy="621792"/>
          </a:xfrm>
          <a:prstGeom prst="rect">
            <a:avLst/>
          </a:prstGeom>
          <a:solidFill>
            <a:srgbClr val="1A2456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3566160" y="1143000"/>
            <a:ext cx="64008" cy="62179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271016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1170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Нативная работа с Django ORM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160520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FEA"/>
                </a:solidFill>
              </a:rPr>
              <a:t>Полная совместимость без доп. настроек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566160" y="1837944"/>
            <a:ext cx="5257800" cy="621792"/>
          </a:xfrm>
          <a:prstGeom prst="rect">
            <a:avLst/>
          </a:prstGeom>
          <a:solidFill>
            <a:srgbClr val="1A2456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3566160" y="1837944"/>
            <a:ext cx="64008" cy="621792"/>
          </a:xfrm>
          <a:prstGeom prst="rect">
            <a:avLst/>
          </a:prstGeom>
          <a:solidFill>
            <a:srgbClr val="0D733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6596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60520" y="1865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Бесплатная лицензия GPL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160520" y="2157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FEA"/>
                </a:solidFill>
              </a:rPr>
              <a:t>Открытый исходный код, без затрат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566160" y="2532888"/>
            <a:ext cx="5257800" cy="621792"/>
          </a:xfrm>
          <a:prstGeom prst="rect">
            <a:avLst/>
          </a:prstGeom>
          <a:solidFill>
            <a:srgbClr val="1A2456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19"/>
          <p:cNvSpPr/>
          <p:nvPr/>
        </p:nvSpPr>
        <p:spPr>
          <a:xfrm>
            <a:off x="3566160" y="2532888"/>
            <a:ext cx="64008" cy="621792"/>
          </a:xfrm>
          <a:prstGeom prst="rect">
            <a:avLst/>
          </a:prstGeom>
          <a:solidFill>
            <a:srgbClr val="8B3E9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66090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160520" y="2560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Триггеры, процедуры, функции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160520" y="2852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FEA"/>
                </a:solidFill>
              </a:rPr>
              <a:t>Все нужные инструменты из коробки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566160" y="3227832"/>
            <a:ext cx="5257800" cy="621792"/>
          </a:xfrm>
          <a:prstGeom prst="rect">
            <a:avLst/>
          </a:prstGeom>
          <a:solidFill>
            <a:srgbClr val="1A2456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3"/>
          <p:cNvSpPr/>
          <p:nvPr/>
        </p:nvSpPr>
        <p:spPr>
          <a:xfrm>
            <a:off x="3566160" y="3227832"/>
            <a:ext cx="64008" cy="621792"/>
          </a:xfrm>
          <a:prstGeom prst="rect">
            <a:avLst/>
          </a:prstGeom>
          <a:solidFill>
            <a:srgbClr val="B7770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355848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160520" y="3255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Знакомая технология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160520" y="3547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FEA"/>
                </a:solidFill>
              </a:rPr>
              <a:t>Пройден курс МДК.11.01</a:t>
            </a:r>
            <a:r>
              <a:rPr lang="ru-RU" sz="1000" dirty="0">
                <a:solidFill>
                  <a:srgbClr val="A8BFEA"/>
                </a:solidFill>
              </a:rPr>
              <a:t> и ОП 08</a:t>
            </a:r>
            <a:r>
              <a:rPr lang="en-US" sz="1000" dirty="0">
                <a:solidFill>
                  <a:srgbClr val="A8BFEA"/>
                </a:solidFill>
              </a:rPr>
              <a:t> по MySQL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365760" y="3950208"/>
            <a:ext cx="8458200" cy="475488"/>
          </a:xfrm>
          <a:prstGeom prst="rect">
            <a:avLst/>
          </a:prstGeom>
          <a:solidFill>
            <a:srgbClr val="43D47E"/>
          </a:solidFill>
          <a:ln/>
          <a:effectLst>
            <a:outerShdw blurRad="101600" dist="25400" dir="162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4" name="Text 27"/>
          <p:cNvSpPr/>
          <p:nvPr/>
        </p:nvSpPr>
        <p:spPr>
          <a:xfrm>
            <a:off x="365760" y="3950208"/>
            <a:ext cx="8458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4A"/>
                </a:solidFill>
              </a:rPr>
              <a:t>MySQL — оптимальный выбор: бесплатно, знакомо, полностью совместимо с проектом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20040" y="-146304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ER-ДИАГРАММА БАЗЫ ДАННЫХ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95028" y="-146304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FEA"/>
                </a:solidFill>
              </a:rPr>
              <a:t>MySQL Workbench  •  14 таблиц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024128"/>
            <a:ext cx="868680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616085"/>
            <a:ext cx="9143999" cy="4527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FEA"/>
                </a:solidFill>
              </a:rPr>
              <a:t>Воробьёв Р.А.  •  09.02.07  •  ЧУПО «ВШП»  •  202</a:t>
            </a:r>
            <a:r>
              <a:rPr lang="ru-RU" sz="800" dirty="0">
                <a:solidFill>
                  <a:srgbClr val="A8BFEA"/>
                </a:solidFill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СТРУКТУРА ТАБЛИЦ: ПОЛЬЗОВАТЕЛИ И АРЕНДАТОРЫ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237744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1042416"/>
            <a:ext cx="2340864" cy="3666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97480" y="1024128"/>
            <a:ext cx="21945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15768" y="1042416"/>
            <a:ext cx="2157984" cy="20665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0" y="1024128"/>
            <a:ext cx="228600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47488" y="1042416"/>
            <a:ext cx="2249424" cy="3666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452360" y="1024128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70648" y="1042416"/>
            <a:ext cx="1472184" cy="1335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2880" y="47365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b="1" dirty="0">
                <a:solidFill>
                  <a:srgbClr val="4FC3F7"/>
                </a:solidFill>
              </a:rPr>
              <a:t>Пользователи системы</a:t>
            </a:r>
          </a:p>
        </p:txBody>
      </p:sp>
      <p:sp>
        <p:nvSpPr>
          <p:cNvPr id="17" name="Text 11"/>
          <p:cNvSpPr/>
          <p:nvPr/>
        </p:nvSpPr>
        <p:spPr>
          <a:xfrm>
            <a:off x="2697480" y="3136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b="1" dirty="0">
                <a:solidFill>
                  <a:srgbClr val="4FC3F7"/>
                </a:solidFill>
              </a:rPr>
              <a:t>Профили</a:t>
            </a:r>
          </a:p>
        </p:txBody>
      </p:sp>
      <p:sp>
        <p:nvSpPr>
          <p:cNvPr id="18" name="Text 12"/>
          <p:cNvSpPr/>
          <p:nvPr/>
        </p:nvSpPr>
        <p:spPr>
          <a:xfrm>
            <a:off x="5029200" y="4736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b="1" dirty="0">
                <a:solidFill>
                  <a:srgbClr val="4FC3F7"/>
                </a:solidFill>
              </a:rPr>
              <a:t>Арендаторы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7452360" y="2404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b="1" dirty="0">
                <a:solidFill>
                  <a:srgbClr val="4FC3F7"/>
                </a:solidFill>
              </a:rPr>
              <a:t>Связь ПВЗ и пользователя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679192" y="3615803"/>
            <a:ext cx="2194560" cy="768129"/>
          </a:xfrm>
          <a:prstGeom prst="rect">
            <a:avLst/>
          </a:prstGeom>
          <a:solidFill>
            <a:srgbClr val="1A245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5"/>
          <p:cNvSpPr/>
          <p:nvPr/>
        </p:nvSpPr>
        <p:spPr>
          <a:xfrm>
            <a:off x="2788920" y="3291840"/>
            <a:ext cx="2011680" cy="1389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BFEA"/>
                </a:solidFill>
              </a:rPr>
              <a:t>💡 user_profile расширяет auth_user через FK user_id (1:1). Арендаторы хранят рабочие часы и функции в JSON-полях.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FEA"/>
                </a:solidFill>
              </a:rPr>
              <a:t>Воробьёв Р.А.  •  09.02.07  •  ЧУПО «ВШП»  •  202</a:t>
            </a:r>
            <a:r>
              <a:rPr lang="ru-RU" sz="800" dirty="0">
                <a:solidFill>
                  <a:srgbClr val="A8BFEA"/>
                </a:solidFill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СТРУКТУРА ТАБЛИЦ: КАТАЛОГ ТОВАРОВ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228600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1042416"/>
            <a:ext cx="2249424" cy="3666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06040" y="1024128"/>
            <a:ext cx="22860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24328" y="1042416"/>
            <a:ext cx="2249424" cy="28895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0" y="1024128"/>
            <a:ext cx="2011680" cy="199144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47488" y="1042416"/>
            <a:ext cx="1975104" cy="197315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178040" y="1024128"/>
            <a:ext cx="1828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96328" y="1042416"/>
            <a:ext cx="1792224" cy="18836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2880" y="4736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b="1" dirty="0">
                <a:solidFill>
                  <a:srgbClr val="4FC3F7"/>
                </a:solidFill>
              </a:rPr>
              <a:t>Товары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2606040" y="39227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b="1" dirty="0">
                <a:solidFill>
                  <a:srgbClr val="4FC3F7"/>
                </a:solidFill>
              </a:rPr>
              <a:t>Категория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5029200" y="30526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b="1" dirty="0">
                <a:solidFill>
                  <a:srgbClr val="4FC3F7"/>
                </a:solidFill>
              </a:rPr>
              <a:t>Брэнд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7178040" y="29535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b="1" dirty="0">
                <a:solidFill>
                  <a:srgbClr val="4FC3F7"/>
                </a:solidFill>
              </a:rPr>
              <a:t>Конфигурация сайта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606040" y="4114800"/>
            <a:ext cx="6355080" cy="640080"/>
          </a:xfrm>
          <a:prstGeom prst="rect">
            <a:avLst/>
          </a:prstGeom>
          <a:solidFill>
            <a:srgbClr val="1A245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5"/>
          <p:cNvSpPr/>
          <p:nvPr/>
        </p:nvSpPr>
        <p:spPr>
          <a:xfrm>
            <a:off x="2697480" y="4133088"/>
            <a:ext cx="617220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FEA"/>
                </a:solidFill>
              </a:rPr>
              <a:t>product содержит JSON-поля images и attributes  •  category.parent_id → self-reference (иерархия)  •  Каждая запись привязана к арендатору через tenant_id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FEA"/>
                </a:solidFill>
              </a:rPr>
              <a:t>Воробьёв Р.А.  •  09.02.07  •  ЧУПО «ВШП»  •  202</a:t>
            </a:r>
            <a:r>
              <a:rPr lang="ru-RU" sz="800" dirty="0">
                <a:solidFill>
                  <a:srgbClr val="A8BFEA"/>
                </a:solidFill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СТРУКТУРА ТАБЛИЦ: КОРЗИНА, ЗАКАЗЫ, ПЛАТЕЖИ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" y="969977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978408"/>
            <a:ext cx="1883664" cy="14721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240280" y="1024128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58568" y="1042416"/>
            <a:ext cx="1883664" cy="133502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297680" y="1024128"/>
            <a:ext cx="228600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15968" y="1042416"/>
            <a:ext cx="2249424" cy="3666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720840" y="1024128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39128" y="1042416"/>
            <a:ext cx="1517904" cy="21579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82880" y="2651760"/>
            <a:ext cx="192024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01168" y="2670048"/>
            <a:ext cx="1883664" cy="202082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2240280" y="2651760"/>
            <a:ext cx="1920240" cy="20299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258568" y="2670048"/>
            <a:ext cx="1883664" cy="198829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82880" y="248945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4FC3F7"/>
                </a:solidFill>
              </a:rPr>
              <a:t>Корзина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2240280" y="23957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4FC3F7"/>
                </a:solidFill>
              </a:rPr>
              <a:t>Связь товаров с корзиной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297680" y="47365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4FC3F7"/>
                </a:solidFill>
              </a:rPr>
              <a:t>Заказы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6720840" y="32095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4FC3F7"/>
                </a:solidFill>
              </a:rPr>
              <a:t>Товары в заказе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82880" y="47365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4FC3F7"/>
                </a:solidFill>
              </a:rPr>
              <a:t>Оплата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2240280" y="4681463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4FC3F7"/>
                </a:solidFill>
              </a:rPr>
              <a:t>Уведомления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6784848" y="3419856"/>
            <a:ext cx="2157984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FEA"/>
                </a:solidFill>
              </a:rPr>
              <a:t>Воробьёв Р.А.  •  09.02.07  •  ЧУПО «ВШП»  •  202</a:t>
            </a:r>
            <a:r>
              <a:rPr lang="ru-RU" sz="800" dirty="0">
                <a:solidFill>
                  <a:srgbClr val="A8BFEA"/>
                </a:solidFill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БИЗНЕС-ЛОГИКА СРЕДСТВАМИ MySQL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20624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420624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11480" y="120700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2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118872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Триггер: trg_before_product_update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" y="1609344"/>
            <a:ext cx="3931920" cy="18288"/>
          </a:xfrm>
          <a:prstGeom prst="rect">
            <a:avLst/>
          </a:prstGeom>
          <a:solidFill>
            <a:srgbClr val="E8EE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457200" y="167335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Тип: BEFORE UPDATE на таблице product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199339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Запрещает отрицательный остаток товара (stock_quantity &lt; 0)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231343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0392B"/>
                </a:solidFill>
              </a:rPr>
              <a:t>→ Последняя линия защиты, работает даже при прямом SQL-запросе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1097280"/>
            <a:ext cx="420624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4709160" y="1097280"/>
            <a:ext cx="4206240" cy="54864"/>
          </a:xfrm>
          <a:prstGeom prst="rect">
            <a:avLst/>
          </a:prstGeom>
          <a:solidFill>
            <a:srgbClr val="8B3E9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4846320" y="1207008"/>
            <a:ext cx="347472" cy="347472"/>
          </a:xfrm>
          <a:prstGeom prst="ellipse">
            <a:avLst/>
          </a:prstGeom>
          <a:solidFill>
            <a:srgbClr val="8B3E9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52728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76088" y="118872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Процедура: cancel_order(id, reason)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46320" y="1609344"/>
            <a:ext cx="3931920" cy="18288"/>
          </a:xfrm>
          <a:prstGeom prst="rect">
            <a:avLst/>
          </a:prstGeom>
          <a:solidFill>
            <a:srgbClr val="E8EE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4892040" y="167335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Проверяет: нельзя </a:t>
            </a:r>
            <a:r>
              <a:rPr lang="en-US" sz="900" dirty="0" err="1">
                <a:solidFill>
                  <a:srgbClr val="1E2761"/>
                </a:solidFill>
              </a:rPr>
              <a:t>отменить</a:t>
            </a:r>
            <a:r>
              <a:rPr lang="en-US" sz="900" dirty="0">
                <a:solidFill>
                  <a:srgbClr val="1E2761"/>
                </a:solidFill>
              </a:rPr>
              <a:t> </a:t>
            </a:r>
            <a:r>
              <a:rPr lang="ru-RU" sz="900" dirty="0">
                <a:solidFill>
                  <a:srgbClr val="1E2761"/>
                </a:solidFill>
              </a:rPr>
              <a:t>выполненный</a:t>
            </a:r>
            <a:r>
              <a:rPr lang="en-US" sz="900" dirty="0">
                <a:solidFill>
                  <a:srgbClr val="1E2761"/>
                </a:solidFill>
              </a:rPr>
              <a:t> или </a:t>
            </a:r>
            <a:r>
              <a:rPr lang="en-US" sz="900" dirty="0" err="1">
                <a:solidFill>
                  <a:srgbClr val="1E2761"/>
                </a:solidFill>
              </a:rPr>
              <a:t>уже</a:t>
            </a:r>
            <a:r>
              <a:rPr lang="en-US" sz="900" dirty="0">
                <a:solidFill>
                  <a:srgbClr val="1E2761"/>
                </a:solidFill>
              </a:rPr>
              <a:t> </a:t>
            </a:r>
            <a:r>
              <a:rPr lang="ru-RU" sz="900" dirty="0">
                <a:solidFill>
                  <a:srgbClr val="1E2761"/>
                </a:solidFill>
              </a:rPr>
              <a:t>отменённый</a:t>
            </a:r>
            <a:r>
              <a:rPr lang="en-US" sz="900" dirty="0">
                <a:solidFill>
                  <a:srgbClr val="1E2761"/>
                </a:solidFill>
              </a:rPr>
              <a:t> заказ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92040" y="199339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В транзакции: меняет статус → отменяет платёж → создаёт уведомление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892040" y="231343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8B3E9D"/>
                </a:solidFill>
              </a:rPr>
              <a:t>→ Атомарность: всё или ничего. Полный откат при ошибке.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74320" y="2907792"/>
            <a:ext cx="420624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3"/>
          <p:cNvSpPr/>
          <p:nvPr/>
        </p:nvSpPr>
        <p:spPr>
          <a:xfrm>
            <a:off x="274320" y="2907792"/>
            <a:ext cx="4206240" cy="54864"/>
          </a:xfrm>
          <a:prstGeom prst="rect">
            <a:avLst/>
          </a:prstGeom>
          <a:solidFill>
            <a:srgbClr val="0D73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4"/>
          <p:cNvSpPr/>
          <p:nvPr/>
        </p:nvSpPr>
        <p:spPr>
          <a:xfrm>
            <a:off x="411480" y="3017520"/>
            <a:ext cx="347472" cy="347472"/>
          </a:xfrm>
          <a:prstGeom prst="ellipse">
            <a:avLst/>
          </a:prstGeom>
          <a:solidFill>
            <a:srgbClr val="0D733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63240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41248" y="2999232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Функция: fn_calc_shipping(tenant_id, sum)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11480" y="3419856"/>
            <a:ext cx="3931920" cy="18288"/>
          </a:xfrm>
          <a:prstGeom prst="rect">
            <a:avLst/>
          </a:prstGeom>
          <a:solidFill>
            <a:srgbClr val="E8EE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7"/>
          <p:cNvSpPr/>
          <p:nvPr/>
        </p:nvSpPr>
        <p:spPr>
          <a:xfrm>
            <a:off x="457200" y="348386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Читает порог бесплатной доставки из site_config арендатора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57200" y="380390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Если сумма ≥ порогу → возвращает 0.00, иначе → 350 руб.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57200" y="412394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D7337"/>
                </a:solidFill>
              </a:rPr>
              <a:t>→ Каждый арендатор настраивает порог в панели без изменения кода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709160" y="2907792"/>
            <a:ext cx="420624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Shape 31"/>
          <p:cNvSpPr/>
          <p:nvPr/>
        </p:nvSpPr>
        <p:spPr>
          <a:xfrm>
            <a:off x="4709160" y="2907792"/>
            <a:ext cx="4206240" cy="5486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Shape 32"/>
          <p:cNvSpPr/>
          <p:nvPr/>
        </p:nvSpPr>
        <p:spPr>
          <a:xfrm>
            <a:off x="4846320" y="3017520"/>
            <a:ext cx="347472" cy="347472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63240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76088" y="2999232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Представления &amp; Роли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4846320" y="3419856"/>
            <a:ext cx="3931920" cy="18288"/>
          </a:xfrm>
          <a:prstGeom prst="rect">
            <a:avLst/>
          </a:prstGeom>
          <a:solidFill>
            <a:srgbClr val="E8EE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5"/>
          <p:cNvSpPr/>
          <p:nvPr/>
        </p:nvSpPr>
        <p:spPr>
          <a:xfrm>
            <a:off x="4892040" y="348386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Views: active_products, orders_with_details, overdue_parcels_at_pvz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4892040" y="380390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Роли: pvz_manager (SELECT/INSERT/UPDATE), pvz_analyst (только SELECT)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4892040" y="412394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288D1"/>
                </a:solidFill>
              </a:rPr>
              <a:t>→ Изоляция: каждый арендатор видит только свои данные (tenant_id)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FEA"/>
                </a:solidFill>
              </a:rPr>
              <a:t>Воробьёв Р.А.  •  09.02.07  •  ЧУПО «ВШП»  •  202</a:t>
            </a:r>
            <a:r>
              <a:rPr lang="ru-RU" sz="800" dirty="0">
                <a:solidFill>
                  <a:srgbClr val="A8BFEA"/>
                </a:solidFill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A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РЕЗУЛЬТАТЫ ПРОЕКТА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1521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4320" y="17465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50592" y="11521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ru-RU" sz="3600" b="1" dirty="0">
              <a:solidFill>
                <a:srgbClr val="4FC3F7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50592" y="17465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26864" y="11521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26864" y="1207008"/>
            <a:ext cx="1920240" cy="88696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03136" y="11521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03136" y="17465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2134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66928" y="102641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Проанализированы бизнес-процессы мультитенантной платформы ПВЗ</a:t>
            </a:r>
            <a:endParaRPr lang="en-US" sz="10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072134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01768" y="102641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Сформулированы функциональные и нефункциональные требования к БД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11046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66928" y="146532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Обоснован выбор СУБД MySQL на основе сравнительного анализа</a:t>
            </a:r>
            <a:endParaRPr lang="en-US" sz="10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11046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01768" y="146532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Разработана ER-диаграмма, 14 таблиц, нормализация до 3NF</a:t>
            </a:r>
            <a:endParaRPr lang="en-US" sz="1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49958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66928" y="190423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Реализованы триггеры, хранимые процедуры, функции, представления, роли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49958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01768" y="190423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Выполнено тестирование всех механизмов на реальных тестовых данных</a:t>
            </a:r>
            <a:endParaRPr lang="en-US" sz="10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8887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66928" y="2343150"/>
            <a:ext cx="8275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БД интегрирована в реально работающий продукт Django Marketplace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Спасибо за внимание!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3977640"/>
            <a:ext cx="2651760" cy="566928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3246120" y="3977640"/>
            <a:ext cx="2651760" cy="3657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478" y="347180"/>
            <a:ext cx="2975043" cy="29750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75303" y="4001361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BFEA"/>
                </a:solidFill>
              </a:rPr>
              <a:t>https://github.com/Bibuk/CourseWork.git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274320" y="470916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FEA"/>
                </a:solidFill>
              </a:rPr>
              <a:t>Воробьёв Р.А.  •  3-й курс  •  09.02.07  •  ЧУПО «ВШП»  •  202</a:t>
            </a:r>
            <a:r>
              <a:rPr lang="ru-RU" sz="900" dirty="0">
                <a:solidFill>
                  <a:srgbClr val="A8BFEA"/>
                </a:solidFill>
              </a:rPr>
              <a:t>5</a:t>
            </a:r>
            <a:r>
              <a:rPr lang="en-US" sz="900" dirty="0">
                <a:solidFill>
                  <a:srgbClr val="A8BFEA"/>
                </a:solidFill>
              </a:rPr>
              <a:t> 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1020</Words>
  <Application>Microsoft Office PowerPoint</Application>
  <PresentationFormat>Экран (16:9)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БД для конструктора ПВЗ</dc:title>
  <dc:subject>PptxGenJS Presentation</dc:subject>
  <dc:creator>PptxGenJS</dc:creator>
  <cp:lastModifiedBy>Администратор</cp:lastModifiedBy>
  <cp:revision>14</cp:revision>
  <dcterms:created xsi:type="dcterms:W3CDTF">2026-03-02T22:20:29Z</dcterms:created>
  <dcterms:modified xsi:type="dcterms:W3CDTF">2026-03-03T07:50:31Z</dcterms:modified>
</cp:coreProperties>
</file>